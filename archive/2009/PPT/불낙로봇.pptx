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6" autoAdjust="0"/>
    <p:restoredTop sz="94660"/>
  </p:normalViewPr>
  <p:slideViewPr>
    <p:cSldViewPr>
      <p:cViewPr varScale="1">
        <p:scale>
          <a:sx n="106" d="100"/>
          <a:sy n="106" d="100"/>
        </p:scale>
        <p:origin x="-109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14348" y="2143116"/>
            <a:ext cx="7643866" cy="150019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85786" y="3786190"/>
            <a:ext cx="7500990" cy="857256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1"/>
            <a:ext cx="285720" cy="685800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70000"/>
              <a:buFont typeface="Wingdings"/>
              <a:buChar char=""/>
              <a:defRPr/>
            </a:lvl1pPr>
            <a:lvl2pPr>
              <a:buSzPct val="120000"/>
              <a:defRPr/>
            </a:lvl2pPr>
            <a:lvl3pPr>
              <a:buSzPct val="120000"/>
              <a:defRPr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3475" y="285728"/>
            <a:ext cx="8554805" cy="939784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9"/>
            <a:ext cx="456478" cy="6857999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071810"/>
            <a:ext cx="7715304" cy="1504952"/>
          </a:xfrm>
        </p:spPr>
        <p:txBody>
          <a:bodyPr anchor="ctr"/>
          <a:lstStyle>
            <a:lvl1pPr algn="l">
              <a:defRPr sz="4000" b="0" cap="all">
                <a:effectLst>
                  <a:outerShdw blurRad="44450" dist="25400" dir="2700000" algn="tl" rotWithShape="0">
                    <a:schemeClr val="bg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0034" y="4500570"/>
            <a:ext cx="7715304" cy="1643064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400">
                <a:solidFill>
                  <a:schemeClr val="tx2"/>
                </a:solidFill>
              </a:defRPr>
            </a:lvl4pPr>
            <a:lvl5pPr marL="1828800" indent="0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500034" y="4429132"/>
            <a:ext cx="7715304" cy="15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날짜 개체 틀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285728"/>
            <a:ext cx="9144032" cy="1143010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 bwMode="invGray">
          <a:xfrm>
            <a:off x="785782" y="1643050"/>
            <a:ext cx="3786218" cy="4429156"/>
          </a:xfrm>
          <a:prstGeom prst="roundRect">
            <a:avLst>
              <a:gd name="adj" fmla="val 5345"/>
            </a:avLst>
          </a:prstGeom>
          <a:solidFill>
            <a:schemeClr val="tx2">
              <a:tint val="50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 bwMode="invGray">
          <a:xfrm>
            <a:off x="4714876" y="1643050"/>
            <a:ext cx="3785616" cy="4429156"/>
          </a:xfrm>
          <a:prstGeom prst="roundRect">
            <a:avLst>
              <a:gd name="adj" fmla="val 6980"/>
            </a:avLst>
          </a:prstGeom>
          <a:solidFill>
            <a:schemeClr val="tx2">
              <a:tint val="75000"/>
              <a:alpha val="50000"/>
            </a:schemeClr>
          </a:solidFill>
          <a:effectLst/>
          <a:scene3d>
            <a:camera prst="orthographicFront"/>
            <a:lightRig rig="threePt" dir="t"/>
          </a:scene3d>
          <a:sp3d contourW="12700">
            <a:bevelT/>
            <a:contourClr>
              <a:schemeClr val="bg2"/>
            </a:contourClr>
          </a:sp3d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내용 개체 틀 9"/>
          <p:cNvSpPr>
            <a:spLocks noGrp="1"/>
          </p:cNvSpPr>
          <p:nvPr>
            <p:ph sz="half" idx="2"/>
          </p:nvPr>
        </p:nvSpPr>
        <p:spPr bwMode="invGray">
          <a:xfrm>
            <a:off x="500038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1">
                  <a:shade val="75000"/>
                  <a:alpha val="50000"/>
                </a:schemeClr>
              </a:gs>
              <a:gs pos="100000">
                <a:schemeClr val="accent1">
                  <a:shade val="75000"/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 bwMode="ltGray">
          <a:xfrm>
            <a:off x="500038" y="5429264"/>
            <a:ext cx="4005072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half" idx="4"/>
          </p:nvPr>
        </p:nvSpPr>
        <p:spPr bwMode="invGray">
          <a:xfrm>
            <a:off x="4716932" y="1500174"/>
            <a:ext cx="4000529" cy="3786214"/>
          </a:xfrm>
          <a:prstGeom prst="roundRect">
            <a:avLst>
              <a:gd name="adj" fmla="val 5345"/>
            </a:avLst>
          </a:prstGeom>
          <a:gradFill flip="none" rotWithShape="1">
            <a:gsLst>
              <a:gs pos="0">
                <a:schemeClr val="accent2">
                  <a:shade val="75000"/>
                  <a:alpha val="50000"/>
                </a:schemeClr>
              </a:gs>
              <a:gs pos="100000">
                <a:schemeClr val="accent2">
                  <a:tint val="20000"/>
                  <a:alpha val="50000"/>
                </a:schemeClr>
              </a:gs>
            </a:gsLst>
            <a:lin ang="13500000" scaled="1"/>
            <a:tileRect/>
          </a:gradFill>
          <a:effectLst/>
          <a:scene3d>
            <a:camera prst="orthographicFront"/>
            <a:lightRig rig="glow" dir="t">
              <a:rot lat="0" lon="0" rev="4800000"/>
            </a:lightRig>
          </a:scene3d>
          <a:sp3d extrusionH="12700" contourW="12700" prstMaterial="powder">
            <a:bevelT h="12700"/>
            <a:bevelB h="50800"/>
            <a:contourClr>
              <a:schemeClr val="bg2"/>
            </a:contourClr>
          </a:sp3d>
        </p:spPr>
        <p:txBody>
          <a:bodyPr/>
          <a:lstStyle>
            <a:lvl1pPr>
              <a:defRPr sz="2800">
                <a:solidFill>
                  <a:schemeClr val="tx1">
                    <a:tint val="95000"/>
                  </a:schemeClr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 bwMode="ltGray">
          <a:xfrm>
            <a:off x="4714876" y="5429264"/>
            <a:ext cx="4000528" cy="71438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 b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 b="0">
                <a:solidFill>
                  <a:schemeClr val="tx1"/>
                </a:solidFill>
              </a:defRPr>
            </a:lvl3pPr>
            <a:lvl4pPr marL="1371600" indent="0" algn="ctr">
              <a:buNone/>
              <a:defRPr sz="1600" b="0">
                <a:solidFill>
                  <a:schemeClr val="tx1"/>
                </a:solidFill>
              </a:defRPr>
            </a:lvl4pPr>
            <a:lvl5pPr marL="1828800" indent="0" algn="ctr">
              <a:buNone/>
              <a:defRPr sz="1600" b="0">
                <a:solidFill>
                  <a:schemeClr val="tx1"/>
                </a:solidFill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859915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8596" y="6"/>
            <a:ext cx="8286808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186766" cy="1143000"/>
          </a:xfrm>
        </p:spPr>
        <p:txBody>
          <a:bodyPr/>
          <a:lstStyle>
            <a:lvl1pPr algn="l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 bwMode="invGray">
          <a:xfrm>
            <a:off x="285720" y="263808"/>
            <a:ext cx="8858280" cy="664862"/>
          </a:xfrm>
          <a:prstGeom prst="rect">
            <a:avLst/>
          </a:prstGeom>
          <a:solidFill>
            <a:schemeClr val="tx1">
              <a:tint val="95000"/>
              <a:alpha val="69804"/>
            </a:scheme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 bwMode="invGray">
          <a:xfrm>
            <a:off x="500034" y="285728"/>
            <a:ext cx="8143932" cy="642942"/>
          </a:xfrm>
          <a:noFill/>
        </p:spPr>
        <p:txBody>
          <a:bodyPr anchor="b">
            <a:noAutofit/>
          </a:bodyPr>
          <a:lstStyle>
            <a:lvl1pPr algn="l">
              <a:defRPr sz="2800" b="1">
                <a:ln w="9525" cmpd="sng">
                  <a:noFill/>
                </a:ln>
                <a:solidFill>
                  <a:schemeClr val="bg1"/>
                </a:solidFill>
                <a:effectLst>
                  <a:outerShdw blurRad="44450" dist="25400" dir="2700000" algn="tl" rotWithShape="0">
                    <a:schemeClr val="tx1">
                      <a:alpha val="51000"/>
                    </a:schemeClr>
                  </a:outerShdw>
                </a:effectLst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1006230"/>
            <a:ext cx="2214578" cy="5351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내용 개체 틀 14"/>
          <p:cNvSpPr>
            <a:spLocks noGrp="1"/>
          </p:cNvSpPr>
          <p:nvPr>
            <p:ph sz="quarter" idx="1"/>
          </p:nvPr>
        </p:nvSpPr>
        <p:spPr>
          <a:xfrm>
            <a:off x="2786064" y="1000108"/>
            <a:ext cx="5857875" cy="535783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0" y="4"/>
            <a:ext cx="285720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571876"/>
            <a:ext cx="9144000" cy="3286126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3571876"/>
            <a:ext cx="3286148" cy="113824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0034" y="4714884"/>
            <a:ext cx="3286148" cy="11430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572272"/>
            <a:ext cx="2895600" cy="2977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그림 개체 틀 7"/>
          <p:cNvSpPr>
            <a:spLocks noGrp="1"/>
          </p:cNvSpPr>
          <p:nvPr>
            <p:ph type="pic" idx="1"/>
          </p:nvPr>
        </p:nvSpPr>
        <p:spPr>
          <a:xfrm>
            <a:off x="4000496" y="1071546"/>
            <a:ext cx="4214842" cy="4714908"/>
          </a:xfrm>
          <a:solidFill>
            <a:schemeClr val="tx2"/>
          </a:solidFill>
          <a:ln w="152400" cap="rnd">
            <a:solidFill>
              <a:srgbClr val="FFFFFF"/>
            </a:solidFill>
            <a:round/>
          </a:ln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scene3d>
            <a:camera prst="orthographicFront"/>
            <a:lightRig rig="twoPt" dir="t">
              <a:rot lat="0" lon="0" rev="10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>
            <a:lvl1pPr marL="0" indent="0">
              <a:buNone/>
              <a:defRPr sz="3200">
                <a:solidFill>
                  <a:schemeClr val="tx2">
                    <a:tint val="10000"/>
                  </a:schemeClr>
                </a:solidFill>
                <a:effectLst>
                  <a:outerShdw blurRad="50800" dist="50800" dir="5400000" algn="tl" rotWithShape="0">
                    <a:srgbClr val="000000">
                      <a:alpha val="58000"/>
                    </a:srgbClr>
                  </a:outerShdw>
                </a:effectLst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b"/>
          <a:lstStyle>
            <a:lvl1pPr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00175"/>
            <a:ext cx="8229600" cy="4625989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/>
        </p:nvCxnSpPr>
        <p:spPr>
          <a:xfrm>
            <a:off x="455646" y="1428736"/>
            <a:ext cx="8215370" cy="1588"/>
          </a:xfrm>
          <a:prstGeom prst="line">
            <a:avLst/>
          </a:prstGeom>
          <a:noFill/>
          <a:ln w="28575" cap="sq" cmpd="sng" algn="ctr">
            <a:solidFill>
              <a:srgbClr val="E49458"/>
            </a:solidFill>
            <a:prstDash val="solid"/>
          </a:ln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rgbClr val="E49458">
                <a:tint val="100000"/>
                <a:shade val="100000"/>
                <a:hueMod val="100000"/>
                <a:satMod val="100000"/>
              </a:srgb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643834" y="-15949"/>
            <a:ext cx="1500166" cy="6857997"/>
          </a:xfrm>
          <a:prstGeom prst="rect">
            <a:avLst/>
          </a:prstGeom>
          <a:solidFill>
            <a:srgbClr val="FFFFFF">
              <a:alpha val="30196"/>
            </a:srgbClr>
          </a:solidFill>
          <a:ln w="15875" cap="sq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43834" y="285728"/>
            <a:ext cx="1214446" cy="6286546"/>
          </a:xfrm>
          <a:noFill/>
        </p:spPr>
        <p:txBody>
          <a:bodyPr vert="eaVert" anchor="b"/>
          <a:lstStyle>
            <a:lvl1pPr algn="ctr">
              <a:defRPr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571481"/>
            <a:ext cx="7115196" cy="5715044"/>
          </a:xfrm>
        </p:spPr>
        <p:txBody>
          <a:bodyPr vert="eaVer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6572272"/>
            <a:ext cx="9144000" cy="285728"/>
          </a:xfrm>
          <a:prstGeom prst="rect">
            <a:avLst/>
          </a:prstGeom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0" y="2380"/>
            <a:ext cx="9144000" cy="283348"/>
          </a:xfrm>
          <a:prstGeom prst="rect">
            <a:avLst/>
          </a:prstGeom>
          <a:solidFill>
            <a:schemeClr val="accent4"/>
          </a:solidFill>
          <a:ln w="158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12353" y="274638"/>
            <a:ext cx="8545927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AF55A0B2-6C6B-4757-9141-707D75367E86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72272"/>
            <a:ext cx="2895600" cy="285752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72272"/>
            <a:ext cx="2133600" cy="285752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8D3F4C56-5839-43B4-BE6A-57202A8B431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rtl="0" eaLnBrk="1" latinLnBrk="1" hangingPunct="1">
        <a:spcBef>
          <a:spcPct val="0"/>
        </a:spcBef>
        <a:buNone/>
        <a:defRPr kumimoji="0" sz="4400" b="0" kern="1200" spc="100" dirty="0">
          <a:ln w="18000">
            <a:noFill/>
            <a:prstDash val="solid"/>
          </a:ln>
          <a:solidFill>
            <a:schemeClr val="tx1"/>
          </a:solidFill>
          <a:effectLst>
            <a:outerShdw blurRad="44450" dist="25400" dir="2700000" algn="tl" rotWithShape="0">
              <a:schemeClr val="bg1">
                <a:alpha val="51000"/>
              </a:scheme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 kumimoji="0">
          <a:solidFill>
            <a:schemeClr val="tx2"/>
          </a:solidFill>
        </a:defRPr>
      </a:lvl2pPr>
      <a:lvl3pPr eaLnBrk="1" latinLnBrk="1" hangingPunct="1">
        <a:defRPr kumimoji="0">
          <a:solidFill>
            <a:schemeClr val="tx2"/>
          </a:solidFill>
        </a:defRPr>
      </a:lvl3pPr>
      <a:lvl4pPr eaLnBrk="1" latinLnBrk="1" hangingPunct="1">
        <a:defRPr kumimoji="0">
          <a:solidFill>
            <a:schemeClr val="tx2"/>
          </a:solidFill>
        </a:defRPr>
      </a:lvl4pPr>
      <a:lvl5pPr eaLnBrk="1" latinLnBrk="1" hangingPunct="1">
        <a:defRPr kumimoji="0">
          <a:solidFill>
            <a:schemeClr val="tx2"/>
          </a:solidFill>
        </a:defRPr>
      </a:lvl5pPr>
      <a:lvl6pPr eaLnBrk="1" latinLnBrk="1" hangingPunct="1">
        <a:defRPr kumimoji="0">
          <a:solidFill>
            <a:schemeClr val="tx2"/>
          </a:solidFill>
        </a:defRPr>
      </a:lvl6pPr>
      <a:lvl7pPr eaLnBrk="1" latinLnBrk="1" hangingPunct="1">
        <a:defRPr kumimoji="0">
          <a:solidFill>
            <a:schemeClr val="tx2"/>
          </a:solidFill>
        </a:defRPr>
      </a:lvl7pPr>
      <a:lvl8pPr eaLnBrk="1" latinLnBrk="1" hangingPunct="1">
        <a:defRPr kumimoji="0">
          <a:solidFill>
            <a:schemeClr val="tx2"/>
          </a:solidFill>
        </a:defRPr>
      </a:lvl8pPr>
      <a:lvl9pPr eaLnBrk="1" latinLnBrk="1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1" hangingPunct="1">
        <a:spcBef>
          <a:spcPct val="20000"/>
        </a:spcBef>
        <a:buFont typeface="Arial"/>
        <a:buChar char="•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Font typeface="Arial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1" hangingPunct="1">
        <a:spcBef>
          <a:spcPct val="20000"/>
        </a:spcBef>
        <a:buClr>
          <a:schemeClr val="accent1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1" hangingPunct="1">
        <a:spcBef>
          <a:spcPct val="20000"/>
        </a:spcBef>
        <a:buClr>
          <a:schemeClr val="tx2"/>
        </a:buClr>
        <a:buFont typeface="Arial"/>
        <a:buChar char="•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14348" y="1714488"/>
            <a:ext cx="7643866" cy="1500198"/>
          </a:xfrm>
        </p:spPr>
        <p:txBody>
          <a:bodyPr/>
          <a:lstStyle/>
          <a:p>
            <a:r>
              <a:rPr lang="ko-KR" altLang="en-US" dirty="0" err="1" smtClean="0"/>
              <a:t>불낙</a:t>
            </a:r>
            <a:r>
              <a:rPr lang="en-US" altLang="ko-KR" dirty="0" smtClean="0"/>
              <a:t>(</a:t>
            </a:r>
            <a:r>
              <a:rPr lang="ko-KR" altLang="en-US" dirty="0" smtClean="0"/>
              <a:t>不落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로봇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85786" y="4429132"/>
            <a:ext cx="7500990" cy="857256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제작자 </a:t>
            </a:r>
            <a:r>
              <a:rPr lang="en-US" altLang="ko-KR" dirty="0" smtClean="0"/>
              <a:t>: 08</a:t>
            </a:r>
            <a:r>
              <a:rPr lang="ko-KR" altLang="en-US" dirty="0" smtClean="0"/>
              <a:t>이승제</a:t>
            </a:r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목표물을 인식하고 그 목표물을 향해 갈 수 있도록 하고 싶었음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구덩이같이 밑으로 뚫린 장애물을 피하는 것을 동시에 하는 로봇을 만들고 싶었음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</a:t>
            </a:r>
            <a:r>
              <a:rPr lang="ko-KR" altLang="en-US" dirty="0" smtClean="0"/>
              <a:t>동기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레이저로 목표물을 인식한다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인식 후 그 목표물을 향해서 간다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파인 곳이 있으면 피해서 목표물을 향해서 간다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</a:t>
            </a:r>
            <a:r>
              <a:rPr lang="ko-KR" altLang="en-US" dirty="0" smtClean="0"/>
              <a:t>목표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dirty="0" smtClean="0"/>
              <a:t>제자리에서 회전</a:t>
            </a:r>
            <a:r>
              <a:rPr lang="en-US" altLang="ko-KR" dirty="0"/>
              <a:t>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센서가 레이저 인식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-&gt; </a:t>
            </a:r>
            <a:r>
              <a:rPr lang="ko-KR" altLang="en-US" dirty="0" smtClean="0"/>
              <a:t>직진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구멍 인식 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-&gt; </a:t>
            </a:r>
            <a:r>
              <a:rPr lang="ko-KR" altLang="en-US" dirty="0" smtClean="0"/>
              <a:t>되돌아서 모든 센서가 꺼질 때까지 직진</a:t>
            </a:r>
            <a:r>
              <a:rPr lang="en-US" altLang="ko-KR" dirty="0"/>
              <a:t> 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-&gt; </a:t>
            </a:r>
            <a:r>
              <a:rPr lang="ko-KR" altLang="en-US" dirty="0" smtClean="0"/>
              <a:t>처음 과정으로 돌아감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== </a:t>
            </a:r>
            <a:r>
              <a:rPr lang="ko-KR" altLang="en-US" dirty="0" smtClean="0"/>
              <a:t>목표물까지 도달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로봇 동작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IMG_631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77527" y="1600200"/>
            <a:ext cx="6788945" cy="4525963"/>
          </a:xfr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로봇 내부 및 바닥 센서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IMG_630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77527" y="1600200"/>
            <a:ext cx="6788945" cy="4525963"/>
          </a:xfr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목표물 센서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바닥 센서를 더 간단하고 정확하게 만들어야 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크기를 좀 더 줄이고 외형에 신경 써야 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원래 목표인 모두 유선인 상태에서 실행될 수 있도록 함</a:t>
            </a: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개선해야 할 점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고구려 벽화">
  <a:themeElements>
    <a:clrScheme name="고구려 벽화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E49458"/>
      </a:accent1>
      <a:accent2>
        <a:srgbClr val="74AD8D"/>
      </a:accent2>
      <a:accent3>
        <a:srgbClr val="D4AC30"/>
      </a:accent3>
      <a:accent4>
        <a:srgbClr val="7BA5BE"/>
      </a:accent4>
      <a:accent5>
        <a:srgbClr val="E4A098"/>
      </a:accent5>
      <a:accent6>
        <a:srgbClr val="70B4B7"/>
      </a:accent6>
      <a:hlink>
        <a:srgbClr val="008685"/>
      </a:hlink>
      <a:folHlink>
        <a:srgbClr val="EA5A23"/>
      </a:folHlink>
    </a:clrScheme>
    <a:fontScheme name="고구려 벽화">
      <a:maj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eorgia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견명조"/>
        <a:font script="Hans" typeface="宋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고구려 벽화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18000">
              <a:schemeClr val="phClr">
                <a:tint val="20000"/>
                <a:shade val="100000"/>
                <a:hueMod val="100000"/>
                <a:satMod val="100000"/>
              </a:schemeClr>
            </a:gs>
            <a:gs pos="87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95000"/>
                <a:hueMod val="100000"/>
                <a:satMod val="100000"/>
              </a:schemeClr>
            </a:gs>
          </a:gsLst>
          <a:lin ang="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dir="5400000" algn="tl">
              <a:srgbClr val="EBE9ED">
                <a:alpha val="0"/>
              </a:srgbClr>
            </a:outerShdw>
          </a:effectLst>
        </a:effectStyle>
        <a:effectStyle>
          <a:effectLst>
            <a:outerShdw blurRad="12700" dir="5400000" algn="tl">
              <a:srgbClr val="EBE9ED">
                <a:alpha val="2745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19200000"/>
            </a:lightRig>
          </a:scene3d>
          <a:sp3d prstMaterial="matte">
            <a:bevelT h="8890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101600" dist="76200" dir="2700000" algn="bl">
              <a:srgbClr val="000000">
                <a:alpha val="30588"/>
              </a:srgbClr>
            </a:outerShdw>
          </a:effectLst>
          <a:scene3d>
            <a:camera prst="orthographicFront" fov="0">
              <a:rot lat="0" lon="0" rev="0"/>
            </a:camera>
            <a:lightRig rig="chilly" dir="t">
              <a:rot lat="0" lon="0" rev="4200000"/>
            </a:lightRig>
          </a:scene3d>
          <a:sp3d contourW="25400" prstMaterial="matte">
            <a:bevelT h="88900"/>
            <a:contourClr>
              <a:srgbClr val="FFFFFF">
                <a:alpha val="0"/>
              </a:srgb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95000"/>
                <a:shade val="100000"/>
                <a:hueMod val="100000"/>
                <a:satMod val="100000"/>
              </a:schemeClr>
            </a:gs>
            <a:gs pos="60000">
              <a:schemeClr val="phClr">
                <a:tint val="100000"/>
                <a:shade val="55000"/>
                <a:hueMod val="100000"/>
                <a:satMod val="100000"/>
              </a:schemeClr>
            </a:gs>
          </a:gsLst>
          <a:path path="circle">
            <a:fillToRect l="50000" t="90000" r="50000" b="1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3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24</TotalTime>
  <Words>114</Words>
  <Application>Microsoft Office PowerPoint</Application>
  <PresentationFormat>화면 슬라이드 쇼(4:3)</PresentationFormat>
  <Paragraphs>27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고구려 벽화</vt:lpstr>
      <vt:lpstr>불낙(不落)로봇</vt:lpstr>
      <vt:lpstr>제작 동기</vt:lpstr>
      <vt:lpstr>제작 목표</vt:lpstr>
      <vt:lpstr>로봇 동작</vt:lpstr>
      <vt:lpstr>로봇 내부 및 바닥 센서</vt:lpstr>
      <vt:lpstr>목표물 센서</vt:lpstr>
      <vt:lpstr>개선해야 할 점</vt:lpstr>
    </vt:vector>
  </TitlesOfParts>
  <Company>미스터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불낙로봇</dc:title>
  <dc:creator>종범</dc:creator>
  <cp:lastModifiedBy>종범</cp:lastModifiedBy>
  <cp:revision>4</cp:revision>
  <dcterms:created xsi:type="dcterms:W3CDTF">2009-11-20T16:43:22Z</dcterms:created>
  <dcterms:modified xsi:type="dcterms:W3CDTF">2009-11-20T17:07:55Z</dcterms:modified>
</cp:coreProperties>
</file>